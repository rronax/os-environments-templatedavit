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297" r:id="rId12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8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51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2" autoAdjust="0"/>
    <p:restoredTop sz="95388" autoAdjust="0"/>
  </p:normalViewPr>
  <p:slideViewPr>
    <p:cSldViewPr snapToGrid="0" snapToObjects="1">
      <p:cViewPr varScale="1">
        <p:scale>
          <a:sx n="81" d="100"/>
          <a:sy n="81" d="100"/>
        </p:scale>
        <p:origin x="114" y="30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8"/>
        <p:guide pos="2136"/>
        <p:guide pos="2751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810227"/>
            <a:ext cx="5746140" cy="3831221"/>
          </a:xfrm>
        </p:spPr>
        <p:txBody>
          <a:bodyPr rtlCol="0" anchor="ctr"/>
          <a:lstStyle>
            <a:defPPr>
              <a:defRPr lang="ru-RU"/>
            </a:defPPr>
          </a:lstStyle>
          <a:p>
            <a:pPr rtl="0"/>
            <a:r>
              <a:rPr lang="ru-RU" dirty="0"/>
              <a:t>Закрытие доступа уволенного администратора и аудит сервера ops-03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A29798-F5D4-DF0A-C4B0-0D76BA310D1A}"/>
              </a:ext>
            </a:extLst>
          </p:cNvPr>
          <p:cNvSpPr txBox="1"/>
          <p:nvPr/>
        </p:nvSpPr>
        <p:spPr>
          <a:xfrm>
            <a:off x="4435680" y="4179783"/>
            <a:ext cx="3320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Выполнение ТЗ № ТЗ-03/2026 (ООО «Пятый склад»)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27BF93-CF20-BDC4-87AB-3B489E678894}"/>
              </a:ext>
            </a:extLst>
          </p:cNvPr>
          <p:cNvSpPr txBox="1"/>
          <p:nvPr/>
        </p:nvSpPr>
        <p:spPr>
          <a:xfrm>
            <a:off x="9639300" y="0"/>
            <a:ext cx="2097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Исполнители: Власян Давит, Перфильева Арина</a:t>
            </a:r>
          </a:p>
          <a:p>
            <a:r>
              <a:rPr lang="ru-RU" dirty="0"/>
              <a:t>РПО/1, курс 2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83680" cy="153135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Цели работы и стенд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328"/>
            <a:ext cx="6583680" cy="3207344"/>
          </a:xfrm>
        </p:spPr>
        <p:txBody>
          <a:bodyPr rtlCol="0">
            <a:normAutofit fontScale="85000" lnSpcReduction="20000"/>
          </a:bodyPr>
          <a:lstStyle>
            <a:defPPr>
              <a:defRPr lang="ru-RU"/>
            </a:defPPr>
          </a:lstStyle>
          <a:p>
            <a:pPr marL="342900" indent="-342900" rtl="0">
              <a:buFont typeface="Wingdings" panose="05000000000000000000" pitchFamily="2" charset="2"/>
              <a:buChar char="ü"/>
            </a:pPr>
            <a:r>
              <a:rPr lang="ru-RU" dirty="0"/>
              <a:t>Закрыть вход сотруднику </a:t>
            </a:r>
            <a:r>
              <a:rPr lang="ru-RU" dirty="0" err="1"/>
              <a:t>kozlov</a:t>
            </a:r>
            <a:r>
              <a:rPr lang="ru-RU" dirty="0"/>
              <a:t> (без удаления учетной записи).</a:t>
            </a:r>
          </a:p>
          <a:p>
            <a:pPr marL="342900" indent="-342900" rtl="0">
              <a:buFont typeface="Wingdings" panose="05000000000000000000" pitchFamily="2" charset="2"/>
              <a:buChar char="ü"/>
            </a:pPr>
            <a:r>
              <a:rPr lang="ru-RU" dirty="0"/>
              <a:t>Завершить его процессы и передать каталог /</a:t>
            </a:r>
            <a:r>
              <a:rPr lang="ru-RU" dirty="0" err="1"/>
              <a:t>srv</a:t>
            </a:r>
            <a:r>
              <a:rPr lang="ru-RU" dirty="0"/>
              <a:t>/</a:t>
            </a:r>
            <a:r>
              <a:rPr lang="ru-RU" dirty="0" err="1"/>
              <a:t>devops</a:t>
            </a:r>
            <a:r>
              <a:rPr lang="ru-RU" dirty="0"/>
              <a:t> инженеру </a:t>
            </a:r>
            <a:r>
              <a:rPr lang="ru-RU" dirty="0" err="1"/>
              <a:t>orlova</a:t>
            </a:r>
            <a:r>
              <a:rPr lang="ru-RU" dirty="0"/>
              <a:t>.</a:t>
            </a:r>
          </a:p>
          <a:p>
            <a:pPr marL="342900" indent="-342900" rtl="0">
              <a:buFont typeface="Wingdings" panose="05000000000000000000" pitchFamily="2" charset="2"/>
              <a:buChar char="ü"/>
            </a:pPr>
            <a:r>
              <a:rPr lang="ru-RU" dirty="0"/>
              <a:t>Найти все файлы уволенного (включая дамп БД) и изолировать их.</a:t>
            </a:r>
          </a:p>
          <a:p>
            <a:pPr marL="342900" indent="-342900" rtl="0">
              <a:buFont typeface="Wingdings" panose="05000000000000000000" pitchFamily="2" charset="2"/>
              <a:buChar char="ü"/>
            </a:pPr>
            <a:r>
              <a:rPr lang="ru-RU" dirty="0"/>
              <a:t>Проверить систему на наличие подозрительных </a:t>
            </a:r>
            <a:r>
              <a:rPr lang="ru-RU" dirty="0" err="1"/>
              <a:t>setuid</a:t>
            </a:r>
            <a:r>
              <a:rPr lang="ru-RU" dirty="0"/>
              <a:t>-программ.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2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4F2997-5724-28E1-E4D2-26F2D2AA0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933" y="2124423"/>
            <a:ext cx="5518068" cy="488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37" y="313704"/>
            <a:ext cx="7526671" cy="164436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Блокировка доступа и завершение процессов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83E3B2-2895-A44B-468C-DDF1E0BA8803}"/>
              </a:ext>
            </a:extLst>
          </p:cNvPr>
          <p:cNvSpPr txBox="1"/>
          <p:nvPr/>
        </p:nvSpPr>
        <p:spPr>
          <a:xfrm>
            <a:off x="490846" y="2261134"/>
            <a:ext cx="56051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>
                <a:solidFill>
                  <a:schemeClr val="accent6"/>
                </a:solidFill>
              </a:rPr>
              <a:t>Три способа блокировки: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6"/>
                </a:solidFill>
              </a:rPr>
              <a:t>passwd -l (</a:t>
            </a:r>
            <a:r>
              <a:rPr lang="ru-RU" dirty="0">
                <a:solidFill>
                  <a:schemeClr val="accent6"/>
                </a:solidFill>
              </a:rPr>
              <a:t>блокировка пароля)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accent6"/>
                </a:solidFill>
              </a:rPr>
              <a:t>usermod</a:t>
            </a:r>
            <a:r>
              <a:rPr lang="en-US" dirty="0">
                <a:solidFill>
                  <a:schemeClr val="accent6"/>
                </a:solidFill>
              </a:rPr>
              <a:t> -L -e (</a:t>
            </a:r>
            <a:r>
              <a:rPr lang="ru-RU" dirty="0">
                <a:solidFill>
                  <a:schemeClr val="accent6"/>
                </a:solidFill>
              </a:rPr>
              <a:t>истечение срока действия)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accent6"/>
                </a:solidFill>
              </a:rPr>
              <a:t>usermod</a:t>
            </a:r>
            <a:r>
              <a:rPr lang="en-US" dirty="0">
                <a:solidFill>
                  <a:schemeClr val="accent6"/>
                </a:solidFill>
              </a:rPr>
              <a:t> -s /</a:t>
            </a:r>
            <a:r>
              <a:rPr lang="en-US" dirty="0" err="1">
                <a:solidFill>
                  <a:schemeClr val="accent6"/>
                </a:solidFill>
              </a:rPr>
              <a:t>usr</a:t>
            </a:r>
            <a:r>
              <a:rPr lang="en-US" dirty="0">
                <a:solidFill>
                  <a:schemeClr val="accent6"/>
                </a:solidFill>
              </a:rPr>
              <a:t>/</a:t>
            </a:r>
            <a:r>
              <a:rPr lang="en-US" dirty="0" err="1">
                <a:solidFill>
                  <a:schemeClr val="accent6"/>
                </a:solidFill>
              </a:rPr>
              <a:t>sbin</a:t>
            </a:r>
            <a:r>
              <a:rPr lang="en-US" dirty="0">
                <a:solidFill>
                  <a:schemeClr val="accent6"/>
                </a:solidFill>
              </a:rPr>
              <a:t>/</a:t>
            </a:r>
            <a:r>
              <a:rPr lang="en-US" dirty="0" err="1">
                <a:solidFill>
                  <a:schemeClr val="accent6"/>
                </a:solidFill>
              </a:rPr>
              <a:t>nologin</a:t>
            </a:r>
            <a:r>
              <a:rPr lang="en-US" dirty="0">
                <a:solidFill>
                  <a:schemeClr val="accent6"/>
                </a:solidFill>
              </a:rPr>
              <a:t> (</a:t>
            </a:r>
            <a:r>
              <a:rPr lang="ru-RU" dirty="0">
                <a:solidFill>
                  <a:schemeClr val="accent6"/>
                </a:solidFill>
              </a:rPr>
              <a:t>смена оболочки)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6"/>
                </a:solidFill>
              </a:rPr>
              <a:t>Исключен из групп </a:t>
            </a:r>
            <a:r>
              <a:rPr lang="en-US" dirty="0" err="1">
                <a:solidFill>
                  <a:schemeClr val="accent6"/>
                </a:solidFill>
              </a:rPr>
              <a:t>sudo</a:t>
            </a:r>
            <a:r>
              <a:rPr lang="en-US" dirty="0">
                <a:solidFill>
                  <a:schemeClr val="accent6"/>
                </a:solidFill>
              </a:rPr>
              <a:t>, </a:t>
            </a:r>
            <a:r>
              <a:rPr lang="en-US" dirty="0" err="1">
                <a:solidFill>
                  <a:schemeClr val="accent6"/>
                </a:solidFill>
              </a:rPr>
              <a:t>devops</a:t>
            </a:r>
            <a:r>
              <a:rPr lang="en-US" dirty="0">
                <a:solidFill>
                  <a:schemeClr val="accent6"/>
                </a:solidFill>
              </a:rPr>
              <a:t>, finance.</a:t>
            </a:r>
            <a:endParaRPr lang="ru-RU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accent6"/>
                </a:solidFill>
              </a:rPr>
              <a:t>Завершен процесс </a:t>
            </a:r>
            <a:r>
              <a:rPr lang="en-US" dirty="0">
                <a:solidFill>
                  <a:schemeClr val="accent6"/>
                </a:solidFill>
              </a:rPr>
              <a:t>sleep 3600 (PID 2617) </a:t>
            </a:r>
            <a:r>
              <a:rPr lang="ru-RU" dirty="0">
                <a:solidFill>
                  <a:schemeClr val="accent6"/>
                </a:solidFill>
              </a:rPr>
              <a:t>сигналом </a:t>
            </a:r>
            <a:r>
              <a:rPr lang="en-US" dirty="0">
                <a:solidFill>
                  <a:schemeClr val="accent6"/>
                </a:solidFill>
              </a:rPr>
              <a:t>TERM</a:t>
            </a:r>
            <a:endParaRPr lang="ru-RU" dirty="0">
              <a:solidFill>
                <a:schemeClr val="accent6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2C8EBF2-BBF3-C66B-0758-C095B402F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213" y="4666757"/>
            <a:ext cx="728662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11" y="410780"/>
            <a:ext cx="5259554" cy="169975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Доказательства закрытия доступа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11" y="2229331"/>
            <a:ext cx="5259554" cy="75137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Используем встроенные средства проверки Linux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EA214FF-8E07-A797-2CDA-53732E553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165" y="2557516"/>
            <a:ext cx="6730724" cy="415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849" y="14288"/>
            <a:ext cx="7965461" cy="112275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Часть 2. Файлы и безопасность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46165" y="1310451"/>
            <a:ext cx="7965460" cy="242334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dirty="0"/>
              <a:t>/</a:t>
            </a:r>
            <a:r>
              <a:rPr lang="en-US" dirty="0" err="1"/>
              <a:t>srv</a:t>
            </a:r>
            <a:r>
              <a:rPr lang="en-US" dirty="0"/>
              <a:t>/</a:t>
            </a:r>
            <a:r>
              <a:rPr lang="en-US" dirty="0" err="1"/>
              <a:t>devops</a:t>
            </a:r>
            <a:r>
              <a:rPr lang="en-US" dirty="0"/>
              <a:t> </a:t>
            </a:r>
            <a:r>
              <a:rPr lang="ru-RU" dirty="0"/>
              <a:t>передан </a:t>
            </a:r>
            <a:r>
              <a:rPr lang="en-US" dirty="0" err="1"/>
              <a:t>orlova:devops</a:t>
            </a:r>
            <a:r>
              <a:rPr lang="en-US" dirty="0"/>
              <a:t>. </a:t>
            </a:r>
            <a:r>
              <a:rPr lang="ru-RU" dirty="0"/>
              <a:t>Ключ </a:t>
            </a:r>
            <a:r>
              <a:rPr lang="en-US" dirty="0" err="1"/>
              <a:t>prod_deploy_key</a:t>
            </a:r>
            <a:r>
              <a:rPr lang="en-US" dirty="0"/>
              <a:t> </a:t>
            </a:r>
            <a:r>
              <a:rPr lang="ru-RU" dirty="0"/>
              <a:t>закрыт (права 600).</a:t>
            </a:r>
          </a:p>
          <a:p>
            <a:pPr rtl="0"/>
            <a:r>
              <a:rPr lang="ru-RU" dirty="0"/>
              <a:t>Бухгалтерия </a:t>
            </a:r>
            <a:r>
              <a:rPr lang="en-US" dirty="0" err="1"/>
              <a:t>lebedeva</a:t>
            </a:r>
            <a:r>
              <a:rPr lang="en-US" dirty="0"/>
              <a:t> </a:t>
            </a:r>
            <a:r>
              <a:rPr lang="ru-RU" dirty="0"/>
              <a:t>продолжает работать в /</a:t>
            </a:r>
            <a:r>
              <a:rPr lang="en-US" dirty="0" err="1"/>
              <a:t>srv</a:t>
            </a:r>
            <a:r>
              <a:rPr lang="en-US" dirty="0"/>
              <a:t>/finance (</a:t>
            </a:r>
            <a:r>
              <a:rPr lang="ru-RU" dirty="0"/>
              <a:t>не прервана).</a:t>
            </a:r>
          </a:p>
          <a:p>
            <a:pPr rtl="0"/>
            <a:r>
              <a:rPr lang="ru-RU" dirty="0"/>
              <a:t>Дамп </a:t>
            </a:r>
            <a:r>
              <a:rPr lang="en-US" dirty="0" err="1"/>
              <a:t>db_backup.sql</a:t>
            </a:r>
            <a:r>
              <a:rPr lang="en-US" dirty="0"/>
              <a:t> </a:t>
            </a:r>
            <a:r>
              <a:rPr lang="ru-RU" dirty="0"/>
              <a:t>убран из общей папки в /</a:t>
            </a:r>
            <a:r>
              <a:rPr lang="en-US" dirty="0"/>
              <a:t>var/backups/offboarding/</a:t>
            </a:r>
            <a:r>
              <a:rPr lang="en-US" dirty="0" err="1"/>
              <a:t>kozlov</a:t>
            </a:r>
            <a:r>
              <a:rPr lang="en-US" dirty="0"/>
              <a:t> (</a:t>
            </a:r>
            <a:r>
              <a:rPr lang="ru-RU" dirty="0"/>
              <a:t>доступ только </a:t>
            </a:r>
            <a:r>
              <a:rPr lang="en-US" dirty="0"/>
              <a:t>root).</a:t>
            </a:r>
            <a:endParaRPr lang="ru-RU" dirty="0"/>
          </a:p>
          <a:p>
            <a:pPr rtl="0"/>
            <a:r>
              <a:rPr lang="ru-RU" dirty="0"/>
              <a:t>Найден </a:t>
            </a:r>
            <a:r>
              <a:rPr lang="en-US" dirty="0"/>
              <a:t>passwd (</a:t>
            </a:r>
            <a:r>
              <a:rPr lang="en-US" dirty="0" err="1"/>
              <a:t>setuid</a:t>
            </a:r>
            <a:r>
              <a:rPr lang="en-US" dirty="0"/>
              <a:t>), </a:t>
            </a:r>
            <a:r>
              <a:rPr lang="ru-RU" dirty="0"/>
              <a:t>проверен через </a:t>
            </a:r>
            <a:r>
              <a:rPr lang="en-US" dirty="0" err="1"/>
              <a:t>dpkg</a:t>
            </a:r>
            <a:r>
              <a:rPr lang="en-US" dirty="0"/>
              <a:t> — </a:t>
            </a:r>
            <a:r>
              <a:rPr lang="ru-RU" dirty="0"/>
              <a:t>оставлен.</a:t>
            </a:r>
          </a:p>
        </p:txBody>
      </p:sp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DD2B3B-4453-4F20-EAB0-3F9A0EC13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2C2C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/srv/devops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передан 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orlova:devops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. Ключ 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prod_deploy_key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закрыт (права 600).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Бухгалтерия 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lebedeva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продолжает работать в 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/srv/finance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(не прервана).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Дамп 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db_backup.sql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убран из общей папки в 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/var/backups/offboarding/kozlov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(доступ только root).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Найден 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passwd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(setuid), проверен через </a:t>
            </a: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Menlo"/>
              </a:rPr>
              <a:t>dpkg</a:t>
            </a:r>
            <a: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 — оставлен.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893098D-3F2B-596D-8872-CE680C35F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175" y="3733800"/>
            <a:ext cx="6905625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3557" y="-11875"/>
            <a:ext cx="5885180" cy="128555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Результаты для службы ИБ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10593" y="2037845"/>
            <a:ext cx="7043618" cy="2233233"/>
          </a:xfrm>
        </p:spPr>
        <p:txBody>
          <a:bodyPr rtlCol="0">
            <a:normAutofit fontScale="92500"/>
          </a:bodyPr>
          <a:lstStyle>
            <a:defPPr>
              <a:defRPr lang="ru-RU"/>
            </a:defPPr>
          </a:lstStyle>
          <a:p>
            <a:pPr marL="342900" indent="-342900" rtl="0">
              <a:buFont typeface="Wingdings" panose="05000000000000000000" pitchFamily="2" charset="2"/>
              <a:buChar char="ü"/>
            </a:pPr>
            <a:r>
              <a:rPr lang="ru-RU" dirty="0"/>
              <a:t>Создан Акт аудита (audit.md): находки, опасности, действия.</a:t>
            </a:r>
          </a:p>
          <a:p>
            <a:pPr marL="342900" indent="-342900" rtl="0">
              <a:buFont typeface="Wingdings" panose="05000000000000000000" pitchFamily="2" charset="2"/>
              <a:buChar char="ü"/>
            </a:pPr>
            <a:r>
              <a:rPr lang="ru-RU" dirty="0"/>
              <a:t>Список того, что нужно сменить вне сервера: пароль Козлова, SSH-ключи, токены CI/CD, пароли БД.</a:t>
            </a:r>
          </a:p>
          <a:p>
            <a:pPr marL="342900" indent="-342900" rtl="0">
              <a:buFont typeface="Wingdings" panose="05000000000000000000" pitchFamily="2" charset="2"/>
              <a:buChar char="ü"/>
            </a:pPr>
            <a:r>
              <a:rPr lang="ru-RU" dirty="0"/>
              <a:t>Разработан скрипт audit-user.sh (запускается при следующих увольнениях)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9748713-370A-104F-04B7-345648E8A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276" y="5380236"/>
            <a:ext cx="7900648" cy="98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06702"/>
            <a:ext cx="4845133" cy="82198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Итоги работы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16" name="Объект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6462" y="1404873"/>
            <a:ext cx="5949538" cy="2019590"/>
          </a:xfrm>
        </p:spPr>
        <p:txBody>
          <a:bodyPr rtlCol="0">
            <a:normAutofit fontScale="92500" lnSpcReduction="10000"/>
          </a:bodyPr>
          <a:lstStyle>
            <a:defPPr>
              <a:defRPr lang="ru-RU"/>
            </a:defPPr>
          </a:lstStyle>
          <a:p>
            <a:pPr marL="285750" indent="-285750" rtl="0">
              <a:buFont typeface="Wingdings" panose="05000000000000000000" pitchFamily="2" charset="2"/>
              <a:buChar char="ü"/>
            </a:pPr>
            <a:r>
              <a:rPr lang="ru-RU" sz="2000" dirty="0"/>
              <a:t>Все требования ТЗ выполнены.</a:t>
            </a:r>
          </a:p>
          <a:p>
            <a:pPr marL="285750" indent="-285750" rtl="0">
              <a:buFont typeface="Wingdings" panose="05000000000000000000" pitchFamily="2" charset="2"/>
              <a:buChar char="ü"/>
            </a:pPr>
            <a:r>
              <a:rPr lang="ru-RU" sz="2000" dirty="0"/>
              <a:t>Результат скрипта приёмки: 15 из 17. Две ошибки зафиксированы в документации (отсутствие исходного notes.txt и права на deploy.sh)</a:t>
            </a:r>
          </a:p>
          <a:p>
            <a:pPr marL="285750" indent="-285750" rtl="0">
              <a:buFont typeface="Wingdings" panose="05000000000000000000" pitchFamily="2" charset="2"/>
              <a:buChar char="ü"/>
            </a:pPr>
            <a:r>
              <a:rPr lang="ru-RU" sz="2000" dirty="0"/>
              <a:t>Ссылка на репозиторий: </a:t>
            </a:r>
          </a:p>
          <a:p>
            <a:pPr rtl="0"/>
            <a:r>
              <a:rPr lang="ru-RU" sz="2000" dirty="0"/>
              <a:t>     </a:t>
            </a:r>
            <a:r>
              <a:rPr lang="en-US" sz="2000" dirty="0"/>
              <a:t>https://github.com/syrmaka/tz-03-offboarding</a:t>
            </a:r>
            <a:endParaRPr lang="ru-RU" sz="2000" dirty="0"/>
          </a:p>
        </p:txBody>
      </p:sp>
      <p:pic>
        <p:nvPicPr>
          <p:cNvPr id="6" name="Рисунок 5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74E73E9-7E1E-6DE1-EA85-C66A3496E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925" y="2714625"/>
            <a:ext cx="6696075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3213716" cy="272770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Власян Давит </a:t>
            </a:r>
          </a:p>
          <a:p>
            <a:pPr rtl="0"/>
            <a:r>
              <a:rPr lang="ru-RU" dirty="0"/>
              <a:t>Перфильева Арина</a:t>
            </a:r>
          </a:p>
          <a:p>
            <a:pPr rtl="0"/>
            <a:r>
              <a:rPr lang="ru-RU" dirty="0"/>
              <a:t>РПО/1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{C914FE8B-2840-4D97-925D-AE64398353DC}TF8a9b5915-b8c7-461e-8cdd-693d48b5e323138ae9a7_win32-fecfc327da1f</Template>
  <TotalTime>16</TotalTime>
  <Words>396</Words>
  <Application>Microsoft Office PowerPoint</Application>
  <PresentationFormat>Широкоэкранный</PresentationFormat>
  <Paragraphs>45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6" baseType="lpstr">
      <vt:lpstr>Arial</vt:lpstr>
      <vt:lpstr>Arial Black</vt:lpstr>
      <vt:lpstr>Calibri</vt:lpstr>
      <vt:lpstr>Menlo</vt:lpstr>
      <vt:lpstr>quote-cjk-patch</vt:lpstr>
      <vt:lpstr>Times new Roman</vt:lpstr>
      <vt:lpstr>Wingdings</vt:lpstr>
      <vt:lpstr>Пользовательская</vt:lpstr>
      <vt:lpstr>Закрытие доступа уволенного администратора и аудит сервера ops-03</vt:lpstr>
      <vt:lpstr>Цели работы и стенд</vt:lpstr>
      <vt:lpstr>Блокировка доступа и завершение процессов</vt:lpstr>
      <vt:lpstr>Доказательства закрытия доступа</vt:lpstr>
      <vt:lpstr>Часть 2. Файлы и безопасность</vt:lpstr>
      <vt:lpstr>Результаты для службы ИБ</vt:lpstr>
      <vt:lpstr>Итоги работы</vt:lpstr>
      <vt:lpstr>Спасибо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Amanda Eakins</dc:creator>
  <cp:lastModifiedBy>Amanda Eakins</cp:lastModifiedBy>
  <cp:revision>2</cp:revision>
  <dcterms:created xsi:type="dcterms:W3CDTF">2026-10-26T13:39:23Z</dcterms:created>
  <dcterms:modified xsi:type="dcterms:W3CDTF">2026-10-26T16:32:37Z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